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53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112745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NUTRIANDES DISTRIBUCIONES S.A.C.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457200" y="2926080"/>
            <a:ext cx="112745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Financiero Ejecutivo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4114800" y="2743200"/>
            <a:ext cx="3959352" cy="0"/>
          </a:xfrm>
          <a:prstGeom prst="line">
            <a:avLst/>
          </a:prstGeom>
          <a:noFill/>
          <a:ln w="12700">
            <a:solidFill>
              <a:srgbClr val="A8C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365760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594360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preparada para uso interno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 — Diagnóstico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1457432" cy="502920"/>
          </a:xfrm>
          <a:prstGeom prst="rect">
            <a:avLst/>
          </a:prstGeom>
          <a:solidFill>
            <a:srgbClr val="EBF2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1323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general: EN RIESGO. 0 alertas activas, 2 distorsiones detectadas.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325880"/>
            <a:ext cx="2148840" cy="914400"/>
          </a:xfrm>
          <a:prstGeom prst="rect">
            <a:avLst/>
          </a:prstGeom>
          <a:solidFill>
            <a:srgbClr val="F2F4F6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39903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Netas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6459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45,700,000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2697480" y="132588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697480" y="139903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Bruto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2697480" y="16459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5029200" y="132588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029200" y="139903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Operativo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5029200" y="16459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7360920" y="132588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360920" y="139903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7360920" y="16459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-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9692640" y="132588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9692640" y="139903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Neto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9692640" y="164592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365760" y="237744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365760" y="2450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Corriente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365760" y="26974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N/A</a:t>
            </a:r>
            <a:endParaRPr lang="en-US" sz="1700" dirty="0"/>
          </a:p>
        </p:txBody>
      </p:sp>
      <p:sp>
        <p:nvSpPr>
          <p:cNvPr id="24" name="Shape 22"/>
          <p:cNvSpPr/>
          <p:nvPr/>
        </p:nvSpPr>
        <p:spPr>
          <a:xfrm>
            <a:off x="2697480" y="237744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2697480" y="2450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Endeudamiento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697480" y="26974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700" dirty="0"/>
          </a:p>
        </p:txBody>
      </p:sp>
      <p:sp>
        <p:nvSpPr>
          <p:cNvPr id="27" name="Shape 25"/>
          <p:cNvSpPr/>
          <p:nvPr/>
        </p:nvSpPr>
        <p:spPr>
          <a:xfrm>
            <a:off x="5029200" y="237744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029200" y="2450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5029200" y="26974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360920" y="237744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360920" y="2450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 PE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7360920" y="26974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0.0%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9692640" y="2377440"/>
            <a:ext cx="2148840" cy="9144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9692640" y="245059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Patrimonio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9692640" y="269748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S/ -</a:t>
            </a:r>
            <a:endParaRPr lang="en-US" sz="1700" dirty="0"/>
          </a:p>
        </p:txBody>
      </p:sp>
      <p:sp>
        <p:nvSpPr>
          <p:cNvPr id="36" name="Shape 34"/>
          <p:cNvSpPr/>
          <p:nvPr/>
        </p:nvSpPr>
        <p:spPr>
          <a:xfrm>
            <a:off x="365760" y="3520440"/>
            <a:ext cx="2743200" cy="2240280"/>
          </a:xfrm>
          <a:prstGeom prst="rect">
            <a:avLst/>
          </a:prstGeom>
          <a:solidFill>
            <a:srgbClr val="F2F4F6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457200" y="3566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CEO — ¿Es viable?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" y="3840480"/>
            <a:ext cx="2560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operación es viable pero requiere ajustes en estructura de costos.</a:t>
            </a:r>
            <a:endParaRPr lang="en-US" sz="700" dirty="0"/>
          </a:p>
        </p:txBody>
      </p:sp>
      <p:sp>
        <p:nvSpPr>
          <p:cNvPr id="39" name="Shape 37"/>
          <p:cNvSpPr/>
          <p:nvPr/>
        </p:nvSpPr>
        <p:spPr>
          <a:xfrm>
            <a:off x="3291840" y="3520440"/>
            <a:ext cx="2743200" cy="2240280"/>
          </a:xfrm>
          <a:prstGeom prst="rect">
            <a:avLst/>
          </a:prstGeom>
          <a:solidFill>
            <a:srgbClr val="F2F4F6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0" name="Text 38"/>
          <p:cNvSpPr/>
          <p:nvPr/>
        </p:nvSpPr>
        <p:spPr>
          <a:xfrm>
            <a:off x="3383280" y="3566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CFO — ¿Cuánto riesgo?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3383280" y="3840480"/>
            <a:ext cx="2560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Patrimonio positivo. Endeudamiento -. Liquidez insuficiente.</a:t>
            </a:r>
            <a:endParaRPr lang="en-US" sz="700" dirty="0"/>
          </a:p>
        </p:txBody>
      </p:sp>
      <p:sp>
        <p:nvSpPr>
          <p:cNvPr id="42" name="Shape 40"/>
          <p:cNvSpPr/>
          <p:nvPr/>
        </p:nvSpPr>
        <p:spPr>
          <a:xfrm>
            <a:off x="6217920" y="3520440"/>
            <a:ext cx="2743200" cy="2240280"/>
          </a:xfrm>
          <a:prstGeom prst="rect">
            <a:avLst/>
          </a:prstGeom>
          <a:solidFill>
            <a:srgbClr val="F2F4F6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3" name="Text 41"/>
          <p:cNvSpPr/>
          <p:nvPr/>
        </p:nvSpPr>
        <p:spPr>
          <a:xfrm>
            <a:off x="6309360" y="3566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Dir. Comercial — ¿Costos?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309360" y="3840480"/>
            <a:ext cx="2560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de ventas representa 0.0% de ingresos.</a:t>
            </a:r>
            <a:endParaRPr lang="en-US" sz="700" dirty="0"/>
          </a:p>
        </p:txBody>
      </p:sp>
      <p:sp>
        <p:nvSpPr>
          <p:cNvPr id="45" name="Shape 43"/>
          <p:cNvSpPr/>
          <p:nvPr/>
        </p:nvSpPr>
        <p:spPr>
          <a:xfrm>
            <a:off x="9144000" y="3520440"/>
            <a:ext cx="2743200" cy="2240280"/>
          </a:xfrm>
          <a:prstGeom prst="rect">
            <a:avLst/>
          </a:prstGeom>
          <a:solidFill>
            <a:srgbClr val="D1E7D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6" name="Text 44"/>
          <p:cNvSpPr/>
          <p:nvPr/>
        </p:nvSpPr>
        <p:spPr>
          <a:xfrm>
            <a:off x="9235440" y="356616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Directorio — ¿Cumplimos?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9235440" y="3840480"/>
            <a:ext cx="256032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alertas regulatorias activas.</a:t>
            </a:r>
            <a:endParaRPr lang="en-US" sz="700" dirty="0"/>
          </a:p>
        </p:txBody>
      </p:sp>
      <p:sp>
        <p:nvSpPr>
          <p:cNvPr id="48" name="Text 46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Ganancias y Pérdidas — 2028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1457432" cy="502920"/>
          </a:xfrm>
          <a:prstGeom prst="rect">
            <a:avLst/>
          </a:prstGeom>
          <a:solidFill>
            <a:srgbClr val="EBF2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1323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ventas de S/ 45,700,000 generaron margen bruto de NaN% y margen operativo de NaN%, mostrando una operación rentable.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 Bruta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(-) Cortesías y Mermas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NaN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Ventas Netas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45,700,000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(-) Costo Restaurante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-38,205,200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 Bruta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(-) Gastos Restaurante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NaN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(-) Gastos Administrativos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-1,505,000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Utilidad Operativa (EBIT)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(-) Gastos Financieros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-810,000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(+) Dif. Cambio Neta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1,240,000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(+) Otros Ingresos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175,000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Resultado del Ejercicio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1,985,844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0" y="137160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 netas de S/ 45,700,000 promedian S/ 3,808,333/mes.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Food cost de 83.6% sobre ventas.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operativos totales representan NaN% de ventas.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 neto: S/ 1,985,844 (margen: 0.0%).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65760" y="5943600"/>
            <a:ext cx="11457432" cy="502920"/>
          </a:xfrm>
          <a:prstGeom prst="rect">
            <a:avLst/>
          </a:prstGeom>
          <a:solidFill>
            <a:srgbClr val="FFF3CD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 evolución de márgenes en los próximos 3 meses. Si la tendencia persiste, evaluar ajustes en estructura de costos.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de Trabajo y Eficiencia — Sector Distribución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1457432" cy="502920"/>
          </a:xfrm>
          <a:prstGeom prst="rect">
            <a:avLst/>
          </a:prstGeom>
          <a:solidFill>
            <a:srgbClr val="EBF2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1323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 47 días, cobro 46 días. El ciclo de conversión de efectivo cierra en 0 días: la operación se financia con el crédito de proveedores, así que cualquier acortamiento del plazo de pago se siente de inmediato en la caja.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280160"/>
            <a:ext cx="2148840" cy="1051560"/>
          </a:xfrm>
          <a:prstGeom prst="rect">
            <a:avLst/>
          </a:prstGeom>
          <a:solidFill>
            <a:srgbClr val="FFF3C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35331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inventario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365760" y="1600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365760" y="2103120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 +11.9%</a:t>
            </a:r>
            <a:endParaRPr lang="en-US" sz="700" dirty="0"/>
          </a:p>
        </p:txBody>
      </p:sp>
      <p:sp>
        <p:nvSpPr>
          <p:cNvPr id="10" name="Shape 8"/>
          <p:cNvSpPr/>
          <p:nvPr/>
        </p:nvSpPr>
        <p:spPr>
          <a:xfrm>
            <a:off x="2697480" y="1280160"/>
            <a:ext cx="2148840" cy="1051560"/>
          </a:xfrm>
          <a:prstGeom prst="rect">
            <a:avLst/>
          </a:prstGeom>
          <a:solidFill>
            <a:srgbClr val="FFF3C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2697480" y="135331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Rotación inventario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97480" y="1600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7.65xx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2697480" y="2103120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-10.4%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5029200" y="1280160"/>
            <a:ext cx="2148840" cy="1051560"/>
          </a:xfrm>
          <a:prstGeom prst="rect">
            <a:avLst/>
          </a:prstGeom>
          <a:solidFill>
            <a:srgbClr val="D1E7D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029200" y="135331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cobro (DSO)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5029200" y="1600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5029200" y="2103120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-3.8%</a:t>
            </a:r>
            <a:endParaRPr lang="en-US" sz="700" dirty="0"/>
          </a:p>
        </p:txBody>
      </p:sp>
      <p:sp>
        <p:nvSpPr>
          <p:cNvPr id="18" name="Shape 16"/>
          <p:cNvSpPr/>
          <p:nvPr/>
        </p:nvSpPr>
        <p:spPr>
          <a:xfrm>
            <a:off x="7360920" y="1280160"/>
            <a:ext cx="2148840" cy="1051560"/>
          </a:xfrm>
          <a:prstGeom prst="rect">
            <a:avLst/>
          </a:prstGeom>
          <a:solidFill>
            <a:srgbClr val="D1E7D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7360920" y="135331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CxC % del activo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7360920" y="1600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24.9%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360920" y="2103120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 -1.8 pp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9692640" y="1280160"/>
            <a:ext cx="2148840" cy="105156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9692640" y="1353312"/>
            <a:ext cx="2148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efectivo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9692640" y="1600200"/>
            <a:ext cx="2148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25" name="Text 23"/>
          <p:cNvSpPr/>
          <p:nvPr/>
        </p:nvSpPr>
        <p:spPr>
          <a:xfrm>
            <a:off x="9692640" y="2103120"/>
            <a:ext cx="21488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+0.0%</a:t>
            </a:r>
            <a:endParaRPr lang="en-US" sz="700" dirty="0"/>
          </a:p>
        </p:txBody>
      </p:sp>
      <p:sp>
        <p:nvSpPr>
          <p:cNvPr id="26" name="Text 24"/>
          <p:cNvSpPr/>
          <p:nvPr/>
        </p:nvSpPr>
        <p:spPr>
          <a:xfrm>
            <a:off x="365760" y="25146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Crecimiento del inventario contra crecimiento de las ventas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365760" y="2834640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Ventas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1783080" y="2898648"/>
            <a:ext cx="1705297" cy="256032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29" name="Text 27"/>
          <p:cNvSpPr/>
          <p:nvPr/>
        </p:nvSpPr>
        <p:spPr>
          <a:xfrm>
            <a:off x="3579817" y="2834640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+8.8%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365760" y="3401568"/>
            <a:ext cx="1371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783080" y="3465576"/>
            <a:ext cx="4754880" cy="256032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32" name="Text 30"/>
          <p:cNvSpPr/>
          <p:nvPr/>
        </p:nvSpPr>
        <p:spPr>
          <a:xfrm>
            <a:off x="6629400" y="3401568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+24.6%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766560" y="2697480"/>
            <a:ext cx="5029200" cy="1371600"/>
          </a:xfrm>
          <a:prstGeom prst="rect">
            <a:avLst/>
          </a:prstGeom>
          <a:solidFill>
            <a:srgbClr val="FFF3C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/>
          <p:nvPr/>
        </p:nvSpPr>
        <p:spPr>
          <a:xfrm>
            <a:off x="6903720" y="2743200"/>
            <a:ext cx="4754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inventario crece más rápido que la venta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03720" y="2971800"/>
            <a:ext cx="475488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existencias suben 24.6 % mientras las ventas suben 8.8 %: 15.8 puntos de diferencia.</a:t>
            </a:r>
            <a:endParaRPr lang="en-US" sz="800" dirty="0"/>
          </a:p>
          <a:p>
            <a:pPr indent="0" marL="0">
              <a:buNone/>
            </a:pPr>
            <a:r>
              <a:rPr lang="en-US" sz="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está acumulando mercadería más rápido de lo que rota. Revisar cobertura por línea antes de la próxima compra.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65760" y="5943600"/>
            <a:ext cx="11457432" cy="502920"/>
          </a:xfrm>
          <a:prstGeom prst="rect">
            <a:avLst/>
          </a:prstGeom>
          <a:solidFill>
            <a:srgbClr val="F2F4F6"/>
          </a:solidFill>
          <a:ln/>
        </p:spPr>
      </p:sp>
      <p:sp>
        <p:nvSpPr>
          <p:cNvPr id="37" name="Text 35"/>
          <p:cNvSpPr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ciclo de conversión se sostiene sobre el plazo de proveedores; el inventario es la palanca propia.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Situación Financiera — Activos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1457432" cy="502920"/>
          </a:xfrm>
          <a:prstGeom prst="rect">
            <a:avLst/>
          </a:prstGeom>
          <a:solidFill>
            <a:srgbClr val="EBF2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1323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total de S/ 23,255,000 concentrado 38.8% en no corriente (IME). AC de S/ 14,227,000 (61.2%) con efectivo limitado.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Activo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Efectivo y Equivalentes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1,180,000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Gastos Anticipados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138,000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Activo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14,227,000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ACTIVO NO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  Intangibles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248,000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Activo No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9,028,000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ACTIVO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23,255,000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0" y="137160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concentrado 38.8% en no corriente (inversión en IME).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 de 1,180,000 cubre 0 días de operación (benchmark: 30+ días).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CxC comerciales de 0 indica cobranza rápida (0 días).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Inventarios (mercaderías + suministros) de S/ 0 con rotación adecuada.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de trabajo: S/ 0 (negativo).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65760" y="4754880"/>
            <a:ext cx="11457432" cy="77724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4800600"/>
            <a:ext cx="111831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de Liquidez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02920" y="5029200"/>
            <a:ext cx="111831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efectiva: AC (S/ 14,227,000) − Preoperativos (S/ 138,000) = S/ 14,089,000  |  Días efectivo: 0 (benchmark: 30+)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65760" y="5943600"/>
            <a:ext cx="11457432" cy="502920"/>
          </a:xfrm>
          <a:prstGeom prst="rect">
            <a:avLst/>
          </a:prstGeom>
          <a:solidFill>
            <a:srgbClr val="F2F4F6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liquidez real descontando gastos anticipados no líquidos. Días de efectivo: 0.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de Situación Financiera — Pasivo y Patrimonio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1457432" cy="502920"/>
          </a:xfrm>
          <a:prstGeom prst="rect">
            <a:avLst/>
          </a:prstGeom>
          <a:solidFill>
            <a:srgbClr val="EBF2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1323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Financiamiento total S/ -. Endeudamiento de -.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828800"/>
                <a:gridCol w="14630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% P+P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PASIVO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Pasivo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12,435,000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PASIVO NO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Pasivo No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3,282,881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PASIVO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15,717,881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PATRIMONIO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Patrimonio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7,537,119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NaN%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PASIVO Y PATRIMONIO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0" y="1371600"/>
            <a:ext cx="402336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Endeudamiento de - (benchmark: &lt;70%).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CP: - — deuda concentrada en CP.</a:t>
            </a:r>
            <a:endParaRPr lang="en-US" sz="8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8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CxP comerciales S/ 0 — periodo de pago 0 días.</a:t>
            </a:r>
            <a:endParaRPr lang="en-US" sz="850" dirty="0"/>
          </a:p>
        </p:txBody>
      </p:sp>
      <p:sp>
        <p:nvSpPr>
          <p:cNvPr id="8" name="Shape 5"/>
          <p:cNvSpPr/>
          <p:nvPr/>
        </p:nvSpPr>
        <p:spPr>
          <a:xfrm>
            <a:off x="365760" y="4754880"/>
            <a:ext cx="11457432" cy="777240"/>
          </a:xfrm>
          <a:prstGeom prst="rect">
            <a:avLst/>
          </a:prstGeom>
          <a:solidFill>
            <a:srgbClr val="F2F4F6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502920" y="4800600"/>
            <a:ext cx="11183112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Financiamiento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02920" y="5029200"/>
            <a:ext cx="11183112" cy="411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b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Pasivo total: S/ 15,717,881  →  Accionistas: S/ 0 (0%)  |  Terceros: S/ 15,717,881 (100%)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CP: 0.0% — favorable (deuda mayormente LP).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365760" y="5943600"/>
            <a:ext cx="11457432" cy="502920"/>
          </a:xfrm>
          <a:prstGeom prst="rect">
            <a:avLst/>
          </a:prstGeom>
          <a:solidFill>
            <a:srgbClr val="F2F4F6"/>
          </a:solidFill>
          <a:ln/>
        </p:spPr>
      </p:sp>
      <p:sp>
        <p:nvSpPr>
          <p:cNvPr id="12" name="Text 9"/>
          <p:cNvSpPr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Monitorear evolución patrimonial y gestión de deuda comercial.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Ratios Financieros — Benchmarks Sectoriales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1457432" cy="502920"/>
          </a:xfrm>
          <a:prstGeom prst="rect">
            <a:avLst/>
          </a:prstGeom>
          <a:solidFill>
            <a:srgbClr val="EBF2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1323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Indicadores evaluados contra benchmarks del sector distribution. Verde = favorable, Ámbar = precaución, Rojo = alerta.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371600"/>
          <a:ext cx="1145743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286000"/>
                <a:gridCol w="2286000"/>
                <a:gridCol w="3227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Indicador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Benchmark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Evaluación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5394"/>
                    </a:solidFill>
                  </a:tcPr>
                </a:tc>
              </a:tr>
              <a:tr h="0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LIQUIDEZ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 Corriente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1.20x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Ácida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0.60x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Capital de Trabajo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S/ 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Días Cobertura Efectivo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días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30 días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SOLVENCIA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Endeudamiento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70%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Ratio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N/A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2.0x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Concentración CP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60%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</a:tr>
              <a:tr h="0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Bruto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55%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Operativo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Margen Neto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D7DA"/>
                    </a:solidFill>
                  </a:tcPr>
                </a:tc>
              </a:tr>
              <a:tr h="0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539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EFICIENCIA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8E8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Rotación Inventarios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&gt; 12x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C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 de Cobro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días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7 días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Período de Pago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días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30-60 días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CCE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días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850" dirty="0">
                          <a:solidFill>
                            <a:srgbClr val="2D37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30 días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0D0D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1E7DD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365760" y="5623560"/>
            <a:ext cx="1145743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Resultado depende de ingresos no recurrentes (S/ 1,415,000). Sin ellos, resultado sería S/ 570,844. | ⚠️ El resultado operativo cae 38.0% y el resultado neto sube 10.2%. El puente entre ambos son S/ 1,415,000 de partidas no operativas. Sin ellas el resultado sería S/ 570,844. La mejora del neto no proviene de la operación.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365760" y="5943600"/>
            <a:ext cx="11457432" cy="502920"/>
          </a:xfrm>
          <a:prstGeom prst="rect">
            <a:avLst/>
          </a:prstGeom>
          <a:solidFill>
            <a:srgbClr val="F2F4F6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Benchmarks corresponden al sector distribution en Perú. Ratios distorsionados señalados con ⚠️.</a:t>
            </a:r>
            <a:endParaRPr lang="en-US" sz="850" dirty="0"/>
          </a:p>
        </p:txBody>
      </p:sp>
      <p:sp>
        <p:nvSpPr>
          <p:cNvPr id="10" name="Text 7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Financiera y Tendencia de Ventas Mensuales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1457432" cy="502920"/>
          </a:xfrm>
          <a:prstGeom prst="rect">
            <a:avLst/>
          </a:prstGeom>
          <a:solidFill>
            <a:srgbClr val="EBF2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1323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Activo financiado - con deuda y NaN% con patrimonio.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6576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de Activos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31520" y="1965960"/>
            <a:ext cx="148474" cy="45720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8" name="Shape 6"/>
          <p:cNvSpPr/>
          <p:nvPr/>
        </p:nvSpPr>
        <p:spPr>
          <a:xfrm>
            <a:off x="879994" y="1965960"/>
            <a:ext cx="1135956" cy="457200"/>
          </a:xfrm>
          <a:prstGeom prst="rect">
            <a:avLst/>
          </a:prstGeom>
          <a:solidFill>
            <a:srgbClr val="1B7F9B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0" y="2606040"/>
            <a:ext cx="182880" cy="18288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58775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Efectivo: S/ 1,180,000 (5.1%)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731520" y="2880360"/>
            <a:ext cx="182880" cy="182880"/>
          </a:xfrm>
          <a:prstGeom prst="rect">
            <a:avLst/>
          </a:prstGeom>
          <a:solidFill>
            <a:srgbClr val="1B7F9B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86207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 (IME): S/ 9,028,000 (38.8%)</a:t>
            </a:r>
            <a:endParaRPr lang="en-US" sz="700" dirty="0"/>
          </a:p>
        </p:txBody>
      </p:sp>
      <p:sp>
        <p:nvSpPr>
          <p:cNvPr id="13" name="Text 11"/>
          <p:cNvSpPr/>
          <p:nvPr/>
        </p:nvSpPr>
        <p:spPr>
          <a:xfrm>
            <a:off x="4206240" y="13258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Fuentes de Financiamiento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1965960"/>
            <a:ext cx="1564644" cy="45720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5" name="Shape 13"/>
          <p:cNvSpPr/>
          <p:nvPr/>
        </p:nvSpPr>
        <p:spPr>
          <a:xfrm>
            <a:off x="6136644" y="1965960"/>
            <a:ext cx="413071" cy="45720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16" name="Shape 14"/>
          <p:cNvSpPr/>
          <p:nvPr/>
        </p:nvSpPr>
        <p:spPr>
          <a:xfrm>
            <a:off x="6549716" y="1965960"/>
            <a:ext cx="948364" cy="45720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17" name="Shape 15"/>
          <p:cNvSpPr/>
          <p:nvPr/>
        </p:nvSpPr>
        <p:spPr>
          <a:xfrm>
            <a:off x="4572000" y="2606040"/>
            <a:ext cx="182880" cy="182880"/>
          </a:xfrm>
          <a:prstGeom prst="rect">
            <a:avLst/>
          </a:prstGeom>
          <a:solidFill>
            <a:srgbClr val="E74C3C"/>
          </a:solidFill>
          <a:ln/>
        </p:spPr>
      </p:sp>
      <p:sp>
        <p:nvSpPr>
          <p:cNvPr id="18" name="Text 16"/>
          <p:cNvSpPr/>
          <p:nvPr/>
        </p:nvSpPr>
        <p:spPr>
          <a:xfrm>
            <a:off x="4846320" y="258775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PC: S/ 12,435,000 (53.5%)</a:t>
            </a:r>
            <a:endParaRPr lang="en-US" sz="700" dirty="0"/>
          </a:p>
        </p:txBody>
      </p:sp>
      <p:sp>
        <p:nvSpPr>
          <p:cNvPr id="19" name="Shape 17"/>
          <p:cNvSpPr/>
          <p:nvPr/>
        </p:nvSpPr>
        <p:spPr>
          <a:xfrm>
            <a:off x="4572000" y="2880360"/>
            <a:ext cx="182880" cy="182880"/>
          </a:xfrm>
          <a:prstGeom prst="rect">
            <a:avLst/>
          </a:prstGeom>
          <a:solidFill>
            <a:srgbClr val="F39C12"/>
          </a:solidFill>
          <a:ln/>
        </p:spPr>
      </p:sp>
      <p:sp>
        <p:nvSpPr>
          <p:cNvPr id="20" name="Text 18"/>
          <p:cNvSpPr/>
          <p:nvPr/>
        </p:nvSpPr>
        <p:spPr>
          <a:xfrm>
            <a:off x="4846320" y="286207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Otros PNC: S/ 3,282,881 (14.1%)</a:t>
            </a:r>
            <a:endParaRPr lang="en-US" sz="700" dirty="0"/>
          </a:p>
        </p:txBody>
      </p:sp>
      <p:sp>
        <p:nvSpPr>
          <p:cNvPr id="21" name="Shape 19"/>
          <p:cNvSpPr/>
          <p:nvPr/>
        </p:nvSpPr>
        <p:spPr>
          <a:xfrm>
            <a:off x="4572000" y="3154680"/>
            <a:ext cx="182880" cy="182880"/>
          </a:xfrm>
          <a:prstGeom prst="rect">
            <a:avLst/>
          </a:prstGeom>
          <a:solidFill>
            <a:srgbClr val="CC0000"/>
          </a:solidFill>
          <a:ln/>
        </p:spPr>
      </p:sp>
      <p:sp>
        <p:nvSpPr>
          <p:cNvPr id="22" name="Text 20"/>
          <p:cNvSpPr/>
          <p:nvPr/>
        </p:nvSpPr>
        <p:spPr>
          <a:xfrm>
            <a:off x="4846320" y="3136392"/>
            <a:ext cx="25603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Patrimonio: S/ 7,537,119 (32.4%)</a:t>
            </a:r>
            <a:endParaRPr lang="en-US" sz="700" dirty="0"/>
          </a:p>
        </p:txBody>
      </p:sp>
      <p:sp>
        <p:nvSpPr>
          <p:cNvPr id="23" name="Shape 21"/>
          <p:cNvSpPr/>
          <p:nvPr/>
        </p:nvSpPr>
        <p:spPr>
          <a:xfrm>
            <a:off x="8229600" y="4389120"/>
            <a:ext cx="3776472" cy="137160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8366760" y="4434840"/>
            <a:ext cx="3474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Punto de Equilibrio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366760" y="4663440"/>
            <a:ext cx="347472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Anual: S/ NaN
</a:t>
            </a:r>
            <a:pPr indent="0" marL="0">
              <a:buNone/>
            </a:pPr>
            <a:r>
              <a:rPr lang="en-US" sz="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Mensual: S/ NaN
</a:t>
            </a:r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Cobertura: 0.0%
</a:t>
            </a:r>
            <a:pPr indent="0" marL="0">
              <a:buNone/>
            </a:pPr>
            <a:r>
              <a:rPr lang="en-US" sz="800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 alcanzado ✅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65760" y="5943600"/>
            <a:ext cx="11457432" cy="502920"/>
          </a:xfrm>
          <a:prstGeom prst="rect">
            <a:avLst/>
          </a:prstGeom>
          <a:solidFill>
            <a:srgbClr val="F2F4F6"/>
          </a:solidFill>
          <a:ln/>
        </p:spPr>
      </p:sp>
      <p:sp>
        <p:nvSpPr>
          <p:cNvPr id="27" name="Text 25"/>
          <p:cNvSpPr/>
          <p:nvPr/>
        </p:nvSpPr>
        <p:spPr>
          <a:xfrm>
            <a:off x="502920" y="5961888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estacionalidad sugiere oportunidad de potenciar meses fuertes con eventos y promociones, mientras se contienen costos fijos en meses bajos.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0B5394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457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 y Recomendaciones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5760" y="685800"/>
            <a:ext cx="11457432" cy="502920"/>
          </a:xfrm>
          <a:prstGeom prst="rect">
            <a:avLst/>
          </a:prstGeom>
          <a:solidFill>
            <a:srgbClr val="EBF2F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713232"/>
            <a:ext cx="11155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general: severidad riesgo. Se identificaron 0 alertas y 2 distorsiones en los indicadores.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1457432" cy="1371600"/>
          </a:xfrm>
          <a:prstGeom prst="rect">
            <a:avLst/>
          </a:prstGeom>
          <a:solidFill>
            <a:srgbClr val="F2F4F6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26187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B539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HALLAZGOS PRINCIPALES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463040"/>
            <a:ext cx="110642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1 — dato + implicación.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2 — dato + implicación.</a:t>
            </a:r>
            <a:endParaRPr lang="en-US" sz="8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80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3 — dato + implicación.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65760" y="2743200"/>
            <a:ext cx="11457432" cy="1097280"/>
          </a:xfrm>
          <a:prstGeom prst="rect">
            <a:avLst/>
          </a:prstGeom>
          <a:solidFill>
            <a:srgbClr val="F8D7DA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77063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 IDENTIFICADOS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48640" y="29718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365760" y="4023360"/>
            <a:ext cx="11457432" cy="1828800"/>
          </a:xfrm>
          <a:prstGeom prst="rect">
            <a:avLst/>
          </a:prstGeom>
          <a:solidFill>
            <a:srgbClr val="D1E7D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4050792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PRIORIDADES DE ACCIÓN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48640" y="42976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CC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URGENTE (0-3 meses)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48640" y="44805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urgente 1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urgente 2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4389120" y="42976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MEDIANO PLAZO (3-6 meses)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389120" y="44805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mediano 1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mediano 2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8229600" y="4297680"/>
            <a:ext cx="3474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B5E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ESTRUCTURAL (6-12 meses)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4480560"/>
            <a:ext cx="34747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estructural 1</a:t>
            </a:r>
            <a:endParaRPr lang="en-US" sz="75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750" dirty="0">
                <a:solidFill>
                  <a:srgbClr val="2D37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Acción estructural 2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1338560" y="635508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6C75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53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10312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NUTRIANDES DISTRIBUCIONES S.A.C.</a:t>
            </a:r>
            <a:endParaRPr lang="en-US" sz="2400" dirty="0"/>
          </a:p>
        </p:txBody>
      </p:sp>
      <p:sp>
        <p:nvSpPr>
          <p:cNvPr id="3" name="Text 1"/>
          <p:cNvSpPr/>
          <p:nvPr/>
        </p:nvSpPr>
        <p:spPr>
          <a:xfrm>
            <a:off x="457200" y="2834640"/>
            <a:ext cx="112745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A8C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 Financiero Ejecutivo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114800" y="3474720"/>
            <a:ext cx="3959352" cy="0"/>
          </a:xfrm>
          <a:prstGeom prst="line">
            <a:avLst/>
          </a:prstGeom>
          <a:noFill/>
          <a:ln w="12700">
            <a:solidFill>
              <a:srgbClr val="A8C4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371600" y="3931920"/>
            <a:ext cx="94457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preparada para uso interno.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7BA3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proyecciones y recomendaciones son estimaciones basadas en la información contable proporcionada.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NUTRIANDES DISTRIBUCIONES S.A.C. — Diagnóstico 2028</dc:title>
  <dc:subject>PptxGenJS Presentation</dc:subject>
  <dc:creator>Reporte Financiero V4</dc:creator>
  <cp:lastModifiedBy>Reporte Financiero V4</cp:lastModifiedBy>
  <cp:revision>1</cp:revision>
  <dcterms:created xsi:type="dcterms:W3CDTF">2026-09-01T10:06:42Z</dcterms:created>
  <dcterms:modified xsi:type="dcterms:W3CDTF">2026-09-01T10:06:42Z</dcterms:modified>
</cp:coreProperties>
</file>