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3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NUTRIANDES DISTRIBUCIONES S.A.C.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Financiero Ejecutivo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0" y="2743200"/>
            <a:ext cx="3959352" cy="0"/>
          </a:xfrm>
          <a:prstGeom prst="line">
            <a:avLst/>
          </a:prstGeom>
          <a:noFill/>
          <a:ln w="12700">
            <a:solidFill>
              <a:srgbClr val="A8C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preparada para uso interno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— Diagnóstico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57432" cy="50292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general: EN RIESGO. 0 alertas activas, 2 distorsiones detectadas.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148840" cy="91440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99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45,700,000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697480" y="132588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399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97480" y="1645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0" y="132588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399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Operativo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60920" y="132588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1399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60920" y="1645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-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92640" y="132588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92640" y="1399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Neto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692640" y="1645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Corriente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697480" y="237744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97480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Endeudamiento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9748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029200" y="237744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360920" y="237744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60920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PE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6092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692640" y="2377440"/>
            <a:ext cx="2148840" cy="9144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92640" y="2450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69264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-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365760" y="3520440"/>
            <a:ext cx="2743200" cy="224028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— ¿Es viable?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es viable pero requiere ajustes en estructura de costos.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91840" y="3520440"/>
            <a:ext cx="2743200" cy="224028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8328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— ¿Cuánto riesgo?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83280" y="384048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positivo. Endeudamiento -. Liquidez insuficiente.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217920" y="3520440"/>
            <a:ext cx="2743200" cy="224028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0936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Comercial — ¿Costos?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384048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ventas representa 0.0% de ingresos.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144000" y="3520440"/>
            <a:ext cx="2743200" cy="2240280"/>
          </a:xfrm>
          <a:prstGeom prst="rect">
            <a:avLst/>
          </a:prstGeom>
          <a:solidFill>
            <a:srgbClr val="D1E7D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2354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— ¿Cumplimos?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235440" y="384048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 regulatorias activas.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Ganancias y Pérdidas — 2028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57432" cy="50292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ventas de S/ 45,700,000 generaron margen bruto de 16.4% y margen operativo de 4.6%, mostrando una operación rentable.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 Bruta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(-) Cortesías y Mermas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NaN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Netas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45,700,000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(-) Costo Restaurante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-38,205,200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 Bruta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7,494,800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(-) Gastos Restaurante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NaN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(-) Gastos Administrativos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-1,505,000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 Operativa (EBIT)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2,106,800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(-) Gastos Financieros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-810,000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(+) Dif. Cambio Neta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1,240,000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(+) Otros Ingresos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175,000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del Ejercicio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1,985,844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1371600"/>
            <a:ext cx="4023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 de S/ 45,700,000 promedian S/ 3,808,333/mes.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 de 83.6% sobre ventas.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operativos totales representan NaN% de ventas.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neto: S/ 1,985,844 (margen: 0.0%).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5943600"/>
            <a:ext cx="11457432" cy="5029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596188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evolución de márgenes en los próximos 3 meses. Si la tendencia persiste, evaluar ajustes en estructura de costos.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Trabajo y Eficiencia — Sector Distribución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57432" cy="50292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47 días, cobro 46 días. El ciclo de conversión de efectivo cierra en 0 días: la operación se financia con el crédito de proveedores, así que cualquier acortamiento del plazo de pago se siente de inmediato en la caja.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148840" cy="105156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inventario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+11.9%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697480" y="1280160"/>
            <a:ext cx="2148840" cy="105156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inventario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97480" y="1600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7.65x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-10.4%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0" y="1280160"/>
            <a:ext cx="2148840" cy="1051560"/>
          </a:xfrm>
          <a:prstGeom prst="rect">
            <a:avLst/>
          </a:prstGeom>
          <a:solidFill>
            <a:srgbClr val="D1E7D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cobro (DSO)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1600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-3.8%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360920" y="1280160"/>
            <a:ext cx="2148840" cy="1051560"/>
          </a:xfrm>
          <a:prstGeom prst="rect">
            <a:avLst/>
          </a:prstGeom>
          <a:solidFill>
            <a:srgbClr val="D1E7D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60920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 % del activo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60920" y="1600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60920" y="210312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-1.8 pp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692640" y="1280160"/>
            <a:ext cx="2148840" cy="105156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92640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efectivo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92640" y="1600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92640" y="210312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+0.0%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65760" y="2514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del inventario contra crecimiento de las ventas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83080" y="2898648"/>
            <a:ext cx="1705297" cy="256032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29" name="Text 27"/>
          <p:cNvSpPr/>
          <p:nvPr/>
        </p:nvSpPr>
        <p:spPr>
          <a:xfrm>
            <a:off x="3579817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401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83080" y="3465576"/>
            <a:ext cx="4754880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34015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+24.6%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2697480"/>
            <a:ext cx="5029200" cy="137160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03720" y="27432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crece más rápido que la venta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03720" y="29718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existencias suben 24.6 % mientras las ventas suben 8.8 %: 15.8 puntos de diferencia.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 acumulando mercadería más rápido de lo que rota. Revisar cobertura por línea antes de la próxima compra.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5943600"/>
            <a:ext cx="11457432" cy="5029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96188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conversión se sostiene sobre el plazo de proveedores; el inventario es la palanca propia.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Situación Financiera — Activos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57432" cy="50292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total de S/ 23,255,000 concentrado 38.8% en no corriente (IME). AC de S/ 14,227,000 (61.2%) con efectivo limitado.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Activo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Efectivo y Equivalentes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1,180,000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CxC Comerciales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5,780,000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CxC Personal/Accionistas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19,000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CxC Diversas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1,395,000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Gastos Anticipados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138,000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Mercaderías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4,995,000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Activo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14,227,000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 NO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IME Bruto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7,410,000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Intangibles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248,000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Otras CxC No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120,000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Activo No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9,028,000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ACTIVO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23,255,000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1371600"/>
            <a:ext cx="4023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concentrado 38.8% en no corriente (inversión en IME).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 de 1,180,000 cubre 0 días de operación (benchmark: 30+ días).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 comerciales de 5,780,000 indica cobranza rápida (0 días).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 (mercaderías + suministros) de S/ 4,995,000 con rotación adecuada.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trabajo: S/ 0 (negativo).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4754880"/>
            <a:ext cx="11457432" cy="77724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4800600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Liquidez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5029200"/>
            <a:ext cx="111831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efectiva: AC (S/ 14,227,000) − Preoperativos (S/ 138,000) = S/ 14,089,000  |  Días efectivo: 0 (benchmark: 30+)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65760" y="5943600"/>
            <a:ext cx="11457432" cy="5029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596188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liquidez real descontando gastos anticipados no líquidos. Días de efectivo: 0.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Situación Financiera — Pasivo y Patrimonio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57432" cy="50292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Financiamiento total S/ 23,255,000. Endeudamiento de -.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P+P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PASIVO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Tributos por Pagar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735,000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Remuneraciones por Pagar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432,000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CxP Comerciales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9,780,000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CxP Diversas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1,310,000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Pasivo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12,435,000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PASIVO NO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Pasivo No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3,282,881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PASIVO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15,717,881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PATRIMONIO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Capital 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3,000,000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Resultados Acumulados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2,551,275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Resultado del Ejercicio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1,985,844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Patrimonio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7,537,119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PASIVO Y PATRIMONIO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23,255,000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1371600"/>
            <a:ext cx="4023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Endeudamiento de - (benchmark: &lt;70%).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CP: - — deuda concentrada en CP.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CxP comerciales S/ 9,780,000 — periodo de pago 0 días.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4754880"/>
            <a:ext cx="11457432" cy="77724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4800600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Financiamiento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5029200"/>
            <a:ext cx="111831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Pasivo total: S/ 15,717,881  →  Accionistas: S/ 0 (0%)  |  Terceros: S/ 15,717,881 (100%)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CP: 0.0% — favorable (deuda mayormente LP).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65760" y="5943600"/>
            <a:ext cx="11457432" cy="5029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596188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evolución patrimonial y gestión de deuda comercial.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Financieros — Benchmarks Sectoriales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57432" cy="50292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evaluados contra benchmarks del sector distribution. Verde = favorable, Ámbar = precaución, Rojo = alerta.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5743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  <a:gridCol w="3227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Corriente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1.20x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Ácida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0.60x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de Trabajo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Cobertura Efectivo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30 días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Endeudamiento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D/E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2.0x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Concentración CP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Bruto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Operativo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Neto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53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Rotación Inventarios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12x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 de Cobro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 días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 de Pago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30-60 días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días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D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562356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Resultado depende de ingresos no recurrentes (S/ 1,415,000). Sin ellos, resultado sería S/ 570,844. | ⚠️ El resultado operativo cae 38.0% y el resultado neto sube 10.2%. El puente entre ambos son S/ 1,415,000 de partidas no operativas. Sin ellas el resultado sería S/ 570,844. La mejora del neto no proviene de la operación.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65760" y="5943600"/>
            <a:ext cx="11457432" cy="5029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596188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corresponden al sector distribution en Perú. Ratios distorsionados señalados con ⚠️.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Financiera y Tendencia de Ventas Mensuales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57432" cy="50292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financiado - con deuda y NaN% con patrimonio.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Activos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148474" cy="45720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8" name="Shape 6"/>
          <p:cNvSpPr/>
          <p:nvPr/>
        </p:nvSpPr>
        <p:spPr>
          <a:xfrm>
            <a:off x="879994" y="1965960"/>
            <a:ext cx="905191" cy="457200"/>
          </a:xfrm>
          <a:prstGeom prst="rect">
            <a:avLst/>
          </a:prstGeom>
          <a:solidFill>
            <a:srgbClr val="1B7F9B"/>
          </a:solidFill>
          <a:ln/>
        </p:spPr>
      </p:sp>
      <p:sp>
        <p:nvSpPr>
          <p:cNvPr id="9" name="Shape 7"/>
          <p:cNvSpPr/>
          <p:nvPr/>
        </p:nvSpPr>
        <p:spPr>
          <a:xfrm>
            <a:off x="1785186" y="1965960"/>
            <a:ext cx="6285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Shape 8"/>
          <p:cNvSpPr/>
          <p:nvPr/>
        </p:nvSpPr>
        <p:spPr>
          <a:xfrm>
            <a:off x="2413686" y="1965960"/>
            <a:ext cx="1135956" cy="4572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06040"/>
            <a:ext cx="182880" cy="18288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877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Efectivo: S/ 1,180,000 (5.1%)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182880" cy="182880"/>
          </a:xfrm>
          <a:prstGeom prst="rect">
            <a:avLst/>
          </a:prstGeom>
          <a:solidFill>
            <a:srgbClr val="1B7F9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62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CxC: S/ 7,194,000 (30.9%)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182880" cy="182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363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Inventarios: S/ 4,995,000 (21.5%)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182880" cy="1828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410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(IME): S/ 9,028,000 (38.8%)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062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Financiamiento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965960"/>
            <a:ext cx="1230577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Shape 19"/>
          <p:cNvSpPr/>
          <p:nvPr/>
        </p:nvSpPr>
        <p:spPr>
          <a:xfrm>
            <a:off x="5802577" y="1965960"/>
            <a:ext cx="334068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Shape 20"/>
          <p:cNvSpPr/>
          <p:nvPr/>
        </p:nvSpPr>
        <p:spPr>
          <a:xfrm>
            <a:off x="6136644" y="1965960"/>
            <a:ext cx="413071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549716" y="1965960"/>
            <a:ext cx="948364" cy="4572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606040"/>
            <a:ext cx="182880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5877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CxP Comerciales: S/ 9,780,000 (42.1%)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0" y="2880360"/>
            <a:ext cx="182880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862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PC: S/ 2,655,000 (11.4%)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0" y="3154680"/>
            <a:ext cx="182880" cy="1828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1363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PNC: S/ 3,282,881 (14.1%)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3429000"/>
            <a:ext cx="182880" cy="1828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410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Patrimonio: S/ 7,537,119 (32.4%)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229600" y="4389120"/>
            <a:ext cx="3776472" cy="137160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6676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66760" y="4663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Anual: S/ NaN
</a:t>
            </a:r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Mensual: S/ NaN
</a:t>
            </a:r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0.0%
</a:t>
            </a:r>
            <a:pPr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alcanzado 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5943600"/>
            <a:ext cx="11457432" cy="5029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596188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estacionalidad sugiere oportunidad de potenciar meses fuertes con eventos y promociones, mientras se contienen costos fijos en meses bajos.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57432" cy="50292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general: severidad riesgo. Se identificaron 0 alertas y 2 distorsiones en los indicadores.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57432" cy="137160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618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 — dato + implicación.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 — dato + implicación.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 — dato + implicación.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1457432" cy="1097280"/>
          </a:xfrm>
          <a:prstGeom prst="rect">
            <a:avLst/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7706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5760" y="4023360"/>
            <a:ext cx="11457432" cy="1828800"/>
          </a:xfrm>
          <a:prstGeom prst="rect">
            <a:avLst/>
          </a:prstGeom>
          <a:solidFill>
            <a:srgbClr val="D1E7D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50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DE ACCIÓN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 (0-3 meses)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urgente 1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urgente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89120" y="4297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 (3-6 meses)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0" y="4480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mediano 1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mediano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229600" y="4297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 (6-12 meses)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480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estructural 1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estructural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3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NUTRIANDES DISTRIBUCIONES S.A.C.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Financiero Ejecutivo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0"/>
            <a:ext cx="3959352" cy="0"/>
          </a:xfrm>
          <a:prstGeom prst="line">
            <a:avLst/>
          </a:prstGeom>
          <a:noFill/>
          <a:ln w="12700">
            <a:solidFill>
              <a:srgbClr val="A8C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93192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preparada para uso interno.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proyecciones y recomendaciones son estimaciones basadas en la información contable proporcionada.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NUTRIANDES DISTRIBUCIONES S.A.C. — Diagnóstico 2028</dc:title>
  <dc:subject>PptxGenJS Presentation</dc:subject>
  <dc:creator>Reporte Financiero V4</dc:creator>
  <cp:lastModifiedBy>Reporte Financiero V4</cp:lastModifiedBy>
  <cp:revision>1</cp:revision>
  <dcterms:created xsi:type="dcterms:W3CDTF">2026-09-01T10:33:41Z</dcterms:created>
  <dcterms:modified xsi:type="dcterms:W3CDTF">2026-09-01T10:33:41Z</dcterms:modified>
</cp:coreProperties>
</file>